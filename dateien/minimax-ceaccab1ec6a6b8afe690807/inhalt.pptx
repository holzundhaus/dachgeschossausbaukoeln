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koeln/feuchteschutz-schimmel-dachgeschoss-koeln/" TargetMode="External"/><Relationship Id="rId3" Type="http://schemas.openxmlformats.org/officeDocument/2006/relationships/hyperlink" Target="https://holzundhaus.github.io/dachgeschossausbaukoeln/dateien/minimax-ceaccab1ec6a6b8afe69080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Schimmel im Dachgeschoss: Aufbau, Lüftung und typische Risiken in Köln · Erklärende Präsentation</a:t>
            </a:r>
          </a:p>
        </p:txBody>
      </p:sp>
      <p:sp>
        <p:nvSpPr>
          <p:cNvPr id="3" name="Content Placeholder 2"/>
          <p:cNvSpPr>
            <a:spLocks noGrp="1"/>
          </p:cNvSpPr>
          <p:nvPr>
            <p:ph idx="1"/>
          </p:nvPr>
        </p:nvSpPr>
        <p:spPr/>
        <p:txBody>
          <a:bodyPr/>
          <a:lstStyle/>
          <a:p>
            <a:r>
              <a:t>Überblick: Feuchtigkeit und Schimmel im Dachgeschoss zählen zu den häufigsten Problemen nach einem Ausbau. Die Gründe liegen oft im Zusammenspiel mehrerer Faktoren, die bereits bei der Planung berücksichtigt werden sollten. Dieser Ratgeber zeigt, worauf Eigentümer in Köln achten müssen, um typische Schäden von Beginn an zu vermeiden.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Feuchteschutz mehr ist als Dämmung</a:t>
            </a:r>
          </a:p>
        </p:txBody>
      </p:sp>
      <p:sp>
        <p:nvSpPr>
          <p:cNvPr id="3" name="Content Placeholder 2"/>
          <p:cNvSpPr>
            <a:spLocks noGrp="1"/>
          </p:cNvSpPr>
          <p:nvPr>
            <p:ph idx="1"/>
          </p:nvPr>
        </p:nvSpPr>
        <p:spPr/>
        <p:txBody>
          <a:bodyPr/>
          <a:lstStyle/>
          <a:p>
            <a:pPr>
              <a:defRPr sz="1800"/>
            </a:pPr>
            <a:r>
              <a:t>Viele Eigentümer konzentrieren sich beim Dachgeschossausbau auf die Dämmung und unterschätzen dabei die Feuchteproblematik. Im Dach treffen jedoch mehrere Einflüsse aufeinander: außen Schlagregen und Wind, innen warme Raumluft mit erhöhter Feuchtebelastung, dazu ein mehrschichtiger Bauteilaufbau. Wenn nur eine einzige Schicht fehlerhaft ausgeführt oder beschädigt ist, kann sich Feuchtigkeit in der Konstruktion ansammeln. Die Folgen zeigen sich oft erst nach dem ersten Winter: Schimmel an der Dachschräge, modrige Gerüche oder Verfärbungen an der Innenbekleidung. Eine durchdachte Feuchtestrategie gehört daher von Anfang an zur Ausbauplanung.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häufigsten Feuchtequellen im Dachgeschoss</a:t>
            </a:r>
          </a:p>
        </p:txBody>
      </p:sp>
      <p:sp>
        <p:nvSpPr>
          <p:cNvPr id="3" name="Content Placeholder 2"/>
          <p:cNvSpPr>
            <a:spLocks noGrp="1"/>
          </p:cNvSpPr>
          <p:nvPr>
            <p:ph idx="1"/>
          </p:nvPr>
        </p:nvSpPr>
        <p:spPr/>
        <p:txBody>
          <a:bodyPr/>
          <a:lstStyle/>
          <a:p>
            <a:pPr>
              <a:defRPr sz="1800"/>
            </a:pPr>
            <a:r>
              <a:t>Konvektion entsteht, wenn warme Raumluft durch undichte Stellen in den Dachaufbau strömt und an kalten Schichten kondensiert. Typische Leckagen befinden sich an Dachfensteranschlüssen, Elektrodosen im Bereich der Schräge, Leitungsdurchführungen und am Übergang zur Giebelwand. Diffusionsbedingtes Tauwasser entsteht, wenn Wasserdampf von der warmen Innenseite durch die Bauteilschichten nach außen wandert und dort auf Temperaturen unter dem Taupunkt trifft. Fehlende oder falsch platzierte Dampfbremsen begünstigen diesen Prozess erheblich. Als dritte Quelle kommt Restfeuchte aus frischen Baustoffen hinzu: Estrich, Putz oder Holzkonstruktionen geb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häufigsten Feuchtequellen im Dachgeschoss</a:t>
            </a:r>
          </a:p>
        </p:txBody>
      </p:sp>
      <p:sp>
        <p:nvSpPr>
          <p:cNvPr id="3" name="Content Placeholder 2"/>
          <p:cNvSpPr>
            <a:spLocks noGrp="1"/>
          </p:cNvSpPr>
          <p:nvPr>
            <p:ph idx="1"/>
          </p:nvPr>
        </p:nvSpPr>
        <p:spPr/>
        <p:txBody>
          <a:bodyPr/>
          <a:lstStyle/>
          <a:p>
            <a:pPr>
              <a:defRPr sz="1800"/>
            </a:pPr>
            <a:r>
              <a:t>en über Monate Feuchtigkeit ab. Wird zu früh geschlossen und beheizt, staut sich diese Feuchte in der Konstruktion.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Diffusionsoffen oder diffusionsdicht: Die richtige Strategie wählen</a:t>
            </a:r>
          </a:p>
        </p:txBody>
      </p:sp>
      <p:sp>
        <p:nvSpPr>
          <p:cNvPr id="3" name="Content Placeholder 2"/>
          <p:cNvSpPr>
            <a:spLocks noGrp="1"/>
          </p:cNvSpPr>
          <p:nvPr>
            <p:ph idx="1"/>
          </p:nvPr>
        </p:nvSpPr>
        <p:spPr/>
        <p:txBody>
          <a:bodyPr/>
          <a:lstStyle/>
          <a:p>
            <a:pPr>
              <a:defRPr sz="1800"/>
            </a:pPr>
            <a:r>
              <a:t>Beide Ansätze können funktionieren, verlangen aber Konsequenz bei der Ausführung. Diffusionsoffene Aufbauten mit Materialien wie Holzfaserdämmung über den Sparren ermöglichen das Austrocknen nach innen. Sie benötigen eine feuchtevariable Dampfbremse auf der Raumseite und funktionieren nur, wenn keine durchgehenden Folien die Trocknung blockieren. Diffusionsdichte Aufbauten setzen auf eine luftdichte, dampfbremsende Schicht auf der Innenseite. Hier muss jede einzelne Durchdringung sorgfältig geplant und ausgeführt werden, da sonst die Dampfbremse zum Problem wird. Bei Bestandsdächern in Köln stellt sich oft nicht die Frage nach offen oder dich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Diffusionsoffen oder diffusionsdicht: Die richtige Strategie wählen</a:t>
            </a:r>
          </a:p>
        </p:txBody>
      </p:sp>
      <p:sp>
        <p:nvSpPr>
          <p:cNvPr id="3" name="Content Placeholder 2"/>
          <p:cNvSpPr>
            <a:spLocks noGrp="1"/>
          </p:cNvSpPr>
          <p:nvPr>
            <p:ph idx="1"/>
          </p:nvPr>
        </p:nvSpPr>
        <p:spPr/>
        <p:txBody>
          <a:bodyPr/>
          <a:lstStyle/>
          <a:p>
            <a:pPr>
              <a:defRPr sz="1800"/>
            </a:pPr>
            <a:r>
              <a:t>t, sondern welcher vorhandene Schichtaufbau die Funktion bereits teilweise übernimmt.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und richtiges Lüften</a:t>
            </a:r>
          </a:p>
        </p:txBody>
      </p:sp>
      <p:sp>
        <p:nvSpPr>
          <p:cNvPr id="3" name="Content Placeholder 2"/>
          <p:cNvSpPr>
            <a:spLocks noGrp="1"/>
          </p:cNvSpPr>
          <p:nvPr>
            <p:ph idx="1"/>
          </p:nvPr>
        </p:nvSpPr>
        <p:spPr/>
        <p:txBody>
          <a:bodyPr/>
          <a:lstStyle/>
          <a:p>
            <a:pPr>
              <a:defRPr sz="1800"/>
            </a:pPr>
            <a:r>
              <a:t>Eine dichte Gebäudehülle verhindert konvektive Feuchteeinträge, verändert aber auch das Raumklima. Ohne gezielte Lüftung steigt die relative Feuchte in Schlaf- und Bädern schnell über 60 Prozent. In Dachgeschossen, die nur über einzelne Dachfenster belüftet werden, ist dieses Risiko besonders hoch. Sinnvolle Maßnahmen umfassen eine durchgehende Luftdichtheitsschicht mit dokumentierten Anschlüssen an Fenstern, Giebel und Traufe, feuchtigkeitsgesteuerte Abluftanlagen in Bädern und Küchen sowie Querlüftung über gegenüberliegende Dachfenster. Wäschetrocknen ohne Abluft im Raum sollte vermieden werden, da dies die Feuchtebelastung deutlich erhöht.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Risikofälle im Kölner Bestand</a:t>
            </a:r>
          </a:p>
        </p:txBody>
      </p:sp>
      <p:sp>
        <p:nvSpPr>
          <p:cNvPr id="3" name="Content Placeholder 2"/>
          <p:cNvSpPr>
            <a:spLocks noGrp="1"/>
          </p:cNvSpPr>
          <p:nvPr>
            <p:ph idx="1"/>
          </p:nvPr>
        </p:nvSpPr>
        <p:spPr/>
        <p:txBody>
          <a:bodyPr/>
          <a:lstStyle/>
          <a:p>
            <a:pPr>
              <a:defRPr sz="1800"/>
            </a:pPr>
            <a:r>
              <a:t>Nachträglich ausgebaute Dachgeschosse aus den 1970er bis 1990er Jahren weisen häufig nur Mineralwolle zwischen den Sparren ohne durchgehende Dampfbremse auf. Bei diesen Objekten reicht es nicht, einfach eine neue Dämmung einzubauen, ohne den vorhandenen Bestand bauphysikalisch zu prüfen. Bei denkmalgeschützten Gebäuden sollen Sichtbalkenlagen oder historische Putzdecken oft erhalten bleiben. Dann sind diffusionsoffene Innendämmsysteme mit bauphysikalischer Begleitung gefragt. Auch unzureichend belüftete Flachdach- und Kehlbalkenanschlüsse an Traufe und First sowie Dachfenster ohne fachgerechten Anschluss zählen zu den häufigsten Schadensquell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Risikofälle im Kölner Bestand</a:t>
            </a:r>
          </a:p>
        </p:txBody>
      </p:sp>
      <p:sp>
        <p:nvSpPr>
          <p:cNvPr id="3" name="Content Placeholder 2"/>
          <p:cNvSpPr>
            <a:spLocks noGrp="1"/>
          </p:cNvSpPr>
          <p:nvPr>
            <p:ph idx="1"/>
          </p:nvPr>
        </p:nvSpPr>
        <p:spPr/>
        <p:txBody>
          <a:bodyPr/>
          <a:lstStyle/>
          <a:p>
            <a:pPr>
              <a:defRPr sz="1800"/>
            </a:pPr>
            <a:r>
              <a: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Feuchte und Schimmel im Dachgeschoss: Aufbau, Lüftung und typische Risiken in Köln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