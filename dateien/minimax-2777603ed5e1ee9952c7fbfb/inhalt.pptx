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koeln/-/blob/7d689185b1334b98c7a120fc29ef59364816f1cb/_posts/2026-10-20-wohnflaeche-dachschraegen-woflv-koeln.md" TargetMode="External"/><Relationship Id="rId3" Type="http://schemas.openxmlformats.org/officeDocument/2006/relationships/hyperlink" Target="https://holzundhaus.github.io/dachgeschossausbaukoeln/dateien/minimax-2777603ed5e1ee9952c7fbf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Wohnfläche unter Dachschrägen nach WoFlV berechnen · Erklärende Präsentation</a:t>
            </a:r>
          </a:p>
        </p:txBody>
      </p:sp>
      <p:sp>
        <p:nvSpPr>
          <p:cNvPr id="3" name="Content Placeholder 2"/>
          <p:cNvSpPr>
            <a:spLocks noGrp="1"/>
          </p:cNvSpPr>
          <p:nvPr>
            <p:ph idx="1"/>
          </p:nvPr>
        </p:nvSpPr>
        <p:spPr/>
        <p:txBody>
          <a:bodyPr/>
          <a:lstStyle/>
          <a:p>
            <a:r>
              <a:t>Überblick: Ein Dachgeschoss in Köln auszubauen, lohnt sich in vielen Fällen – doch bevor der erste Handwerker beauftragt wird, stellt sich eine grundlegende Frage: Wie viel Wohnfläche entsteht eigentlich unter den Dachschrägen? Die Antwort bestimmt, wie der neue Raum genutzt, vermietet oder gefördert werden kann. Die Wohnflächenverordnung (WoFlV) regelt, welche Flächenanteile unter einer Schräge vollständig, zur Hälfte oder gar nicht zur Wohnfläche zählen. Wer diese Regeln kennt, vermeidet spätere Konflikte bei Miete, Nebenkosten oder Förderanträgen.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Höhenbereiche der WoFlV einfach erklärt</a:t>
            </a:r>
          </a:p>
        </p:txBody>
      </p:sp>
      <p:sp>
        <p:nvSpPr>
          <p:cNvPr id="3" name="Content Placeholder 2"/>
          <p:cNvSpPr>
            <a:spLocks noGrp="1"/>
          </p:cNvSpPr>
          <p:nvPr>
            <p:ph idx="1"/>
          </p:nvPr>
        </p:nvSpPr>
        <p:spPr/>
        <p:txBody>
          <a:bodyPr/>
          <a:lstStyle/>
          <a:p>
            <a:pPr>
              <a:defRPr sz="1800"/>
            </a:pPr>
            <a:r>
              <a:t>Die WoFlV teilt einen Raum mit Schräge in drei Höhenbereiche auf: Flächen mit weniger als einem Meter lichter Höhe zählen nicht zur Wohnfläche. Zwischen einem und zwei Meter Höhe werden sie nur zur Hälfte angerechnet. Ab zwei Meter Höhe gelten sie als vollständige Wohnfläche. Gemessen wird die tatsächliche lichte Höhe zwischen fertigem Fußboden und fertiger Schräge – nicht die theoretische Geschosshöhe. Wandstärken, Verkleidungen oder Dämmung werden dabei nicht mitgezählt. Dieses einfache Prinzip hat weitreichende Folgen für die Planung, denn bereits wenige Zentimeter Unterschied können darüber entscheiden, ob eine Fläche voll, halb oder gar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Höhenbereiche der WoFlV einfach erklärt</a:t>
            </a:r>
          </a:p>
        </p:txBody>
      </p:sp>
      <p:sp>
        <p:nvSpPr>
          <p:cNvPr id="3" name="Content Placeholder 2"/>
          <p:cNvSpPr>
            <a:spLocks noGrp="1"/>
          </p:cNvSpPr>
          <p:nvPr>
            <p:ph idx="1"/>
          </p:nvPr>
        </p:nvSpPr>
        <p:spPr/>
        <p:txBody>
          <a:bodyPr/>
          <a:lstStyle/>
          <a:p>
            <a:pPr>
              <a:defRPr sz="1800"/>
            </a:pPr>
            <a:r>
              <a:t>nicht zählt.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Kölner Dachlandschaft und ihre Auswirkungen</a:t>
            </a:r>
          </a:p>
        </p:txBody>
      </p:sp>
      <p:sp>
        <p:nvSpPr>
          <p:cNvPr id="3" name="Content Placeholder 2"/>
          <p:cNvSpPr>
            <a:spLocks noGrp="1"/>
          </p:cNvSpPr>
          <p:nvPr>
            <p:ph idx="1"/>
          </p:nvPr>
        </p:nvSpPr>
        <p:spPr/>
        <p:txBody>
          <a:bodyPr/>
          <a:lstStyle/>
          <a:p>
            <a:pPr>
              <a:defRPr sz="1800"/>
            </a:pPr>
            <a:r>
              <a:t>In Köln stehen zahlreiche Altbauten mit Sattel- oder Walmdächern, deren Kniestock oft niedriger ausfällt als bei modernen Neubauten. Ein niedriger Kniestock bedeutet, dass ein größerer Teil der Grundfläche im Bereich unter einem Meter oder zwischen einem und zwei Meter liegt. Steilere Dächer hingegen erzeugen mehr Fläche über zwei Meter Höhe und erhöhen so den nutzbaren Wohnflächenanteil. Gauben, Dachflächenfenster und Gaupen verändern den Schrägenverlauf zusätzlich und können Bereiche schaffen, die höher liegen und damit vollständig angerechnet werden. Diese baulichen Unterschiede wirken sich direkt auf die Planung und den wirtschaftlichen 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Kölner Dachlandschaft und ihre Auswirkungen</a:t>
            </a:r>
          </a:p>
        </p:txBody>
      </p:sp>
      <p:sp>
        <p:nvSpPr>
          <p:cNvPr id="3" name="Content Placeholder 2"/>
          <p:cNvSpPr>
            <a:spLocks noGrp="1"/>
          </p:cNvSpPr>
          <p:nvPr>
            <p:ph idx="1"/>
          </p:nvPr>
        </p:nvSpPr>
        <p:spPr/>
        <p:txBody>
          <a:bodyPr/>
          <a:lstStyle/>
          <a:p>
            <a:pPr>
              <a:defRPr sz="1800"/>
            </a:pPr>
            <a:r>
              <a:t>ert des Dachgeschossausbaus aus.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Wohnflächenberechnung in der Praxis umsetzen</a:t>
            </a:r>
          </a:p>
        </p:txBody>
      </p:sp>
      <p:sp>
        <p:nvSpPr>
          <p:cNvPr id="3" name="Content Placeholder 2"/>
          <p:cNvSpPr>
            <a:spLocks noGrp="1"/>
          </p:cNvSpPr>
          <p:nvPr>
            <p:ph idx="1"/>
          </p:nvPr>
        </p:nvSpPr>
        <p:spPr/>
        <p:txBody>
          <a:bodyPr/>
          <a:lstStyle/>
          <a:p>
            <a:pPr>
              <a:defRPr sz="1800"/>
            </a:pPr>
            <a:r>
              <a:t>Für eine zuverlässige Berechnung empfiehlt es sich, die Raumgeometrie an mehreren senkrechten Schnitten aufzunehmen und nicht nur an einer Stelle zu messen. Einbaudetails wie Trockenbauverkleidungen, Dämmung und Bodenaufbau reduzieren die lichte Höhe und sollten bei der Planung berücksichtigt werden, da sie nachträglich die Wohnfläche verringern können. Besonders Gauben, Dachflächenfenster und Wechsel sollten separat erfasst werden, da sie den Verlauf der Schräge und damit die Wohnflächenberechnung verändern. Die Ergebnisse lassen sich anschließend mit einem Architekten oder Fachplaner gegen den Grundriss abgleichen, um Vollständigkeit und 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Wohnflächenberechnung in der Praxis umsetzen</a:t>
            </a:r>
          </a:p>
        </p:txBody>
      </p:sp>
      <p:sp>
        <p:nvSpPr>
          <p:cNvPr id="3" name="Content Placeholder 2"/>
          <p:cNvSpPr>
            <a:spLocks noGrp="1"/>
          </p:cNvSpPr>
          <p:nvPr>
            <p:ph idx="1"/>
          </p:nvPr>
        </p:nvSpPr>
        <p:spPr/>
        <p:txBody>
          <a:bodyPr/>
          <a:lstStyle/>
          <a:p>
            <a:pPr>
              <a:defRPr sz="1800"/>
            </a:pPr>
            <a:r>
              <a:t>chtigkeit sicherzustellen.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Wohnfläche, Nutzfläche, Förderfläche – nicht dasselbe</a:t>
            </a:r>
          </a:p>
        </p:txBody>
      </p:sp>
      <p:sp>
        <p:nvSpPr>
          <p:cNvPr id="3" name="Content Placeholder 2"/>
          <p:cNvSpPr>
            <a:spLocks noGrp="1"/>
          </p:cNvSpPr>
          <p:nvPr>
            <p:ph idx="1"/>
          </p:nvPr>
        </p:nvSpPr>
        <p:spPr/>
        <p:txBody>
          <a:bodyPr/>
          <a:lstStyle/>
          <a:p>
            <a:pPr>
              <a:defRPr sz="1800"/>
            </a:pPr>
            <a:r>
              <a:t>Die Wohnfläche nach WoFlV ist nicht mit anderen Flächenbegriffen identisch, die im Bauwesen oder bei Förderprogrammen verwendet werden. Die DIN 277 definiert etwa Grundflächen und Rauminhalte anders, und auch die Bezugsfläche für Förderprogramme kann abweichen. Wer einen Dachgeschossausbau in Köln plant und Fördermittel beantragt, sollte daher im Vorfeld klären, welche Flächendefinition das jeweilige Programm verlangt. Eine frühzeitige Klärung erspart Doppelarbeit und nachträgliche Korrekturen in den Antragsunterlagen.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frühzeitige Berechnung sich lohnt</a:t>
            </a:r>
          </a:p>
        </p:txBody>
      </p:sp>
      <p:sp>
        <p:nvSpPr>
          <p:cNvPr id="3" name="Content Placeholder 2"/>
          <p:cNvSpPr>
            <a:spLocks noGrp="1"/>
          </p:cNvSpPr>
          <p:nvPr>
            <p:ph idx="1"/>
          </p:nvPr>
        </p:nvSpPr>
        <p:spPr/>
        <p:txBody>
          <a:bodyPr/>
          <a:lstStyle/>
          <a:p>
            <a:pPr>
              <a:defRPr sz="1800"/>
            </a:pPr>
            <a:r>
              <a:t>Wer die Flächenanteile unter den Dachschrägen von Anfang an realistisch ermittelt, schafft eine belastbare Grundlage für die gesamte weitere Planung. Die Ergebnisse lassen sich konsistent in Mietverträge, Nebenkostenabrechnungen und Förderanträge übernehmen. Zudem hilft eine klare Aufteilung der Höhenbereiche dabei, Möblierung und Stauraum sinnvoll zu planen: Bereiche unter einem Meter eignen sich nicht für dauerhaftes Wohnen, können aber als Stauraum, Garderobe oder Ablagefläche genutzt werden. Einen Online-Rechner zur genauen Berechnung der Wohnfläche unter Dachschrägen bietet die Ratgeberseite zum Thema Kosten und Quadratmeterpreis beim 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frühzeitige Berechnung sich lohnt</a:t>
            </a:r>
          </a:p>
        </p:txBody>
      </p:sp>
      <p:sp>
        <p:nvSpPr>
          <p:cNvPr id="3" name="Content Placeholder 2"/>
          <p:cNvSpPr>
            <a:spLocks noGrp="1"/>
          </p:cNvSpPr>
          <p:nvPr>
            <p:ph idx="1"/>
          </p:nvPr>
        </p:nvSpPr>
        <p:spPr/>
        <p:txBody>
          <a:bodyPr/>
          <a:lstStyle/>
          <a:p>
            <a:pPr>
              <a:defRPr sz="1800"/>
            </a:pPr>
            <a:r>
              <a:t>chgeschossausbau in Köln. Ergänzend dazu erläutert ein weiterer Beitrag den Unterschied zwischen Wohnfläche unter der Schräge, bearbeiteter Dachfläche und gesamter Projektfläche, um Angebote verschiedener Anbieter realistisch vergleichen zu können.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Wohnfläche unter Dachschrägen nach WoFlV berechnen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